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solidFill>
                  <a:srgbClr val="555555"/>
                </a:solidFill>
              </a:rPr>
              <a:t>SPEAKER NOTES: UniServe is a running system, not a mockup. Everything you'll see today was captured from the live application on the demo machine behind me.</a:t>
            </a:r>
          </a:p>
          <a:p/>
          <a:p>
            <a:r>
              <a:rPr sz="1200">
                <a:solidFill>
                  <a:srgbClr val="555555"/>
                </a:solidFill>
              </a:rPr>
              <a:t>TRANSITION: Let's start with why this system needs to exist.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solidFill>
                  <a:srgbClr val="555555"/>
                </a:solidFill>
              </a:rPr>
              <a:t>SPEAKER NOTES: This is the everyday reality at campus cafeterias — and it gets worse at rush hour. The university has no single system of record for any of it.</a:t>
            </a:r>
          </a:p>
          <a:p/>
          <a:p>
            <a:r>
              <a:rPr sz="1200">
                <a:solidFill>
                  <a:srgbClr val="555555"/>
                </a:solidFill>
              </a:rPr>
              <a:t>TRANSITION: UniServe replaces the queue with one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solidFill>
                  <a:srgbClr val="555555"/>
                </a:solidFill>
              </a:rPr>
              <a:t>SPEAKER NOTES: One sentence defines the product — and one backend powers all five roles. Nobody is working from a different source of truth.</a:t>
            </a:r>
          </a:p>
          <a:p/>
          <a:p>
            <a:r>
              <a:rPr sz="1200">
                <a:solidFill>
                  <a:srgbClr val="555555"/>
                </a:solidFill>
              </a:rPr>
              <a:t>TRANSITION: Here's how the pieces fit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solidFill>
                  <a:srgbClr val="555555"/>
                </a:solidFill>
              </a:rPr>
              <a:t>SPEAKER NOTES: The health endpoint on screen says it all: status ready, database connected, schema present. This stack is what's running right now on the demo machine.</a:t>
            </a:r>
          </a:p>
          <a:p/>
          <a:p>
            <a:r>
              <a:rPr sz="1200">
                <a:solidFill>
                  <a:srgbClr val="555555"/>
                </a:solidFill>
              </a:rPr>
              <a:t>TRANSITION: Now the part that matters most — who can do what.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solidFill>
                  <a:srgbClr val="555555"/>
                </a:solidFill>
              </a:rPr>
              <a:t>SPEAKER NOTES: Staff see one cafeteria and three active orders — the console is scoped to their job. Compare that with the admin dashboard: three cafeterias, system-wide. Same platform, different lenses.</a:t>
            </a:r>
          </a:p>
          <a:p/>
          <a:p>
            <a:r>
              <a:rPr sz="1200">
                <a:solidFill>
                  <a:srgbClr val="555555"/>
                </a:solidFill>
              </a:rPr>
              <a:t>TRANSITION: Let's walk the student experience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solidFill>
                  <a:srgbClr val="555555"/>
                </a:solidFill>
              </a:rPr>
              <a:t>SPEAKER NOTES: Students get the full consumer-app experience — switcher, search, categories, favorites. The order history shows real seeded orders with status transitions. One honest note: today's menu shows 'not published yet' because the latest published menu is October 6th — the app correctly refuses to show a menu that doesn't exist.</a:t>
            </a:r>
          </a:p>
          <a:p/>
          <a:p>
            <a:r>
              <a:rPr sz="1200">
                <a:solidFill>
                  <a:srgbClr val="555555"/>
                </a:solidFill>
              </a:rPr>
              <a:t>TRANSITION: Faculty get the same experience — with one important difference.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solidFill>
                  <a:srgbClr val="555555"/>
                </a:solidFill>
              </a:rPr>
              <a:t>SPEAKER NOTES: The switcher on screen is the differentiator: faculty can choose either cafeteria. If you spot 'Phase 56 E2E Cafeteria' in the list — that's documented test residue on our cleanup register, not a real cafeteria. And when faculty open the web console, they're routed to the mobile app — the console is intentionally for operations roles.</a:t>
            </a:r>
          </a:p>
          <a:p/>
          <a:p>
            <a:r>
              <a:rPr sz="1200">
                <a:solidFill>
                  <a:srgbClr val="555555"/>
                </a:solidFill>
              </a:rPr>
              <a:t>TRANSITION: Behind the app, cafeteria staff keep orders moving.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solidFill>
                  <a:srgbClr val="555555"/>
                </a:solidFill>
              </a:rPr>
              <a:t>SPEAKER NOTES: The queue on screen is the real fulfillment board. And security isn't UI-deep: we ran 13 automated probes where a student token hits admin endpoints — all 13 were rejected with 403 by the backend itself. The redirect screenshot proves the UI layer enforces it too.</a:t>
            </a:r>
          </a:p>
          <a:p/>
          <a:p>
            <a:r>
              <a:rPr sz="1200">
                <a:solidFill>
                  <a:srgbClr val="555555"/>
                </a:solidFill>
              </a:rPr>
              <a:t>TRANSITION: Managers see more — but only their cafeteria.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solidFill>
                  <a:srgbClr val="555555"/>
                </a:solidFill>
              </a:rPr>
              <a:t>SPEAKER NOTES: Notice the 'Access denied' screen — a manager clicking Reports doesn't get a filtered view, they get refused. That's deliberate: university-wide analytics belong to the admin. Permissions are decided by role, not by UI convenience.</a:t>
            </a:r>
          </a:p>
          <a:p/>
          <a:p>
            <a:r>
              <a:rPr sz="1200">
                <a:solidFill>
                  <a:srgbClr val="555555"/>
                </a:solidFill>
              </a:rPr>
              <a:t>TRANSITION: Which brings us to the university admin — the control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solidFill>
                  <a:srgbClr val="555555"/>
                </a:solidFill>
              </a:rPr>
              <a:t>SPEAKER NOTES: Everything the university needs to govern the system is here — and the audit log is the piece institutions care about most: who did what, when, recorded append-only. Some seeded test accounts visible in the user list are on our cleanup register; that's honest demo state.</a:t>
            </a:r>
          </a:p>
          <a:p/>
          <a:p>
            <a:r>
              <a:rPr sz="1200">
                <a:solidFill>
                  <a:srgbClr val="555555"/>
                </a:solidFill>
              </a:rPr>
              <a:t>TRANSITION: Two subsystems deserve their own slides — notifications and refunds.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solidFill>
                  <a:srgbClr val="555555"/>
                </a:solidFill>
              </a:rPr>
              <a:t>SPEAKER NOTES: On notifications: we found our own bug during verification — a delivery gap — fixed it in the next phase, and re-verified. That's the process working. On money: we do not claim live payments. The safety behavior we'd ship is fail-closed — refuse rather than pretend. The refund console exists precisely because test payments need test refunds.</a:t>
            </a:r>
          </a:p>
          <a:p/>
          <a:p>
            <a:r>
              <a:rPr sz="1200">
                <a:solidFill>
                  <a:srgbClr val="555555"/>
                </a:solidFill>
              </a:rPr>
              <a:t>TRANSITION: Numbers are only useful to the right audience.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solidFill>
                  <a:srgbClr val="555555"/>
                </a:solidFill>
              </a:rPr>
              <a:t>SPEAKER NOTES: The report on screen aggregates real seeded and E2E order activity. And remember slide 9 — this screen is admin-only on purpose. Visibility is a permission.</a:t>
            </a:r>
          </a:p>
          <a:p/>
          <a:p>
            <a:r>
              <a:rPr sz="1200">
                <a:solidFill>
                  <a:srgbClr val="555555"/>
                </a:solidFill>
              </a:rPr>
              <a:t>TRANSITION: Let's look at what's underneath — the technology and the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solidFill>
                  <a:srgbClr val="555555"/>
                </a:solidFill>
              </a:rPr>
              <a:t>SPEAKER NOTES: Nothing here is exotic — FastAPI, Postgres, Next.js, React Native — and that's the point. The discipline is in the RBAC layer, the audit trail, and the migrations. The health endpoint on screen is what we check before every rehearsal.</a:t>
            </a:r>
          </a:p>
          <a:p/>
          <a:p>
            <a:r>
              <a:rPr sz="1200">
                <a:solidFill>
                  <a:srgbClr val="555555"/>
                </a:solidFill>
              </a:rPr>
              <a:t>TRANSITION: A system is only as good as its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solidFill>
                  <a:srgbClr val="555555"/>
                </a:solidFill>
              </a:rPr>
              <a:t>SPEAKER NOTES: These aren't projections — they're the Phase 62 verification results. Order #31 walked the entire lifecycle in our end-to-end rehearsal and left a seven-event audit trail behind it. That's the difference between 'it works' and 'we proved it works.'</a:t>
            </a:r>
          </a:p>
          <a:p/>
          <a:p>
            <a:r>
              <a:rPr sz="1200">
                <a:solidFill>
                  <a:srgbClr val="555555"/>
                </a:solidFill>
              </a:rPr>
              <a:t>TRANSITION: And the honest picture — including what isn't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solidFill>
                  <a:srgbClr val="555555"/>
                </a:solidFill>
              </a:rPr>
              <a:t>SPEAKER NOTES: We close where we started: this is a running system with real tests and real access control — and a written register of everything that isn't finished. If you take one thing away: we would rather show you an honest empty state than a pretty lie. Thank you — questions welcome.</a:t>
            </a:r>
          </a:p>
          <a:p/>
          <a:p>
            <a:r>
              <a:rPr sz="1200">
                <a:solidFill>
                  <a:srgbClr val="555555"/>
                </a:solidFill>
              </a:rPr>
              <a:t>TRANSITION: End — open for Q&amp;A; see EVALUATOR_CHEAT_SHEET.md.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5F"/>
                </a:solidFill>
              </a:defRPr>
            </a:pPr>
            <a:r>
              <a:t>UniServe — Mobile-First Campus Cafeteria Ordering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E86AB"/>
                </a:solidFill>
              </a:defRPr>
            </a:pPr>
            <a:r>
              <a:t>UniServe — Final Demo (Phase 62: READY WITH KNOWN LIMITATIONS)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Lahore Garrison University — campus food ordering, end to end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Students &amp; faculty order from mobile · Staff &amp; managers fulfill · Admin governs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Built on FastAPI + PostgreSQL + Next.js + React Native/Expo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Phase 62 status: READY WITH KNOWN LIMITATIONS — verified end to end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5F"/>
                </a:solidFill>
              </a:defRPr>
            </a:pPr>
            <a:r>
              <a:t>The Problem — Campus cafeterias run on queues and paper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E86AB"/>
                </a:solidFill>
              </a:defRPr>
            </a:pPr>
            <a:r>
              <a:t>UniServe — Final Demo (Phase 62: READY WITH KNOWN LIMITATIONS)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Students and faculty lose break time standing in line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Staff lose track of orders during rush periods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Managers can't see what sold, what's stale, what's missing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No auditable record: who ordered, when, paid how, refunded why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Payments, refunds, notifications, and inventory live in disconnected tools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5F"/>
                </a:solidFill>
              </a:defRPr>
            </a:pPr>
            <a:r>
              <a:t>The Solution — One platform, five 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E86AB"/>
                </a:solidFill>
              </a:defRPr>
            </a:pPr>
            <a:r>
              <a:t>UniServe — Final Demo (Phase 62: READY WITH KNOWN LIMITATIONS)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Mobile-first campus cafeteria ordering: students &amp; faculty order from phones; staff fulfill in real time; managers run their cafeteria; admin governs users, cafeterias, and audit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Mobile app for the two customer roles (students, faculty)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Web console for the three operational roles (staff, manager, admin)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One backend, one database, one audit trail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5F"/>
                </a:solidFill>
              </a:defRPr>
            </a:pPr>
            <a:r>
              <a:t>Architecture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E86AB"/>
                </a:solidFill>
              </a:defRPr>
            </a:pPr>
            <a:r>
              <a:t>UniServe — Final Demo (Phase 62: READY WITH KNOWN LIMITATIONS)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Mobile: React Native 0.86.3 + Expo SDK 57 — students &amp; faculty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Web console: Next.js 14 — staff, manager, admin (different dashboards per role)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API: FastAPI (Python) — JWT auth, RBAC guards, orders, payments, refunds, notifications, audit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Database: PostgreSQL 16 — SQLAlchemy async, Alembic migrations (at 0013)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Deployment: Docker &amp; Docker Compose (API + PostgreSQL containers verified live)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5F"/>
                </a:solidFill>
              </a:defRPr>
            </a:pPr>
            <a:r>
              <a:t>Five Roles, One Platform — Role-based by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E86AB"/>
                </a:solidFill>
              </a:defRPr>
            </a:pPr>
            <a:r>
              <a:t>UniServe — Final Demo (Phase 62: READY WITH KNOWN LIMITATIONS)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Student — mobile: browse, order, track, notify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Faculty — mobile: same experience + access to BOTH cafeterias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Cafeteria Staff — web: order queue for their assigned cafeteria only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Manager — web: full oversight of their cafeteria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University Admin — web: users, cafeterias, refunds, reports, audit — system-wide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5F"/>
                </a:solidFill>
              </a:defRPr>
            </a:pPr>
            <a:r>
              <a:t>Student Experience (Mobile) — Three taps from hungry to eating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E86AB"/>
                </a:solidFill>
              </a:defRPr>
            </a:pPr>
            <a:r>
              <a:t>UniServe — Final Demo (Phase 62: READY WITH KNOWN LIMITATIONS)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Login with LGU student email (invalid credentials → clear inline error)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Home: cafeteria switcher, search, category chips (Breakfast → Soup)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Menu items priced in PKR; favorites for quick reorder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Order history with live status badges (Confirmed → Completed)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In-app notifications with unread badge + Mark All Read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Profile: University ID, verified email, security actions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5F"/>
                </a:solidFill>
              </a:defRPr>
            </a:pPr>
            <a:r>
              <a:t>Faculty Experience (Mobile) — Order across both cafeterias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E86AB"/>
                </a:solidFill>
              </a:defRPr>
            </a:pPr>
            <a:r>
              <a:t>UniServe — Final Demo (Phase 62: READY WITH KNOWN LIMITATIONS)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Same mobile app, LGU faculty email login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Defaults to Faculty Cafeteria (Administration Block, 1st Floor)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Cafeteria switcher includes BOTH Faculty and Student cafeterias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Full order history + notification inbox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Web console redirects faculty to "Use the Mobile App" — mobile-first by design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5F"/>
                </a:solidFill>
              </a:defRPr>
            </a:pPr>
            <a:r>
              <a:t>Cafeteria Operations (Staff Console) — The order queue is the heartbeat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E86AB"/>
                </a:solidFill>
              </a:defRPr>
            </a:pPr>
            <a:r>
              <a:t>UniServe — Final Demo (Phase 62: READY WITH KNOWN LIMITATIONS)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Staff dashboard scoped to their cafeteria (Ahmed → Student Cafeteria)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Live Order Queue: PENDING → PREPARING → READY → COMPLETED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Staff manage today's menu and inventory for their cafeteria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Route guard: staff navigating to admin URLs are redirected to their dashboard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API-level RBAC: 13/13 forbidden cross-role probes returned HTTP 403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5F"/>
                </a:solidFill>
              </a:defRPr>
            </a:pPr>
            <a:r>
              <a:t>Manager Console — Cafeteria ownership, clearly bounded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E86AB"/>
                </a:solidFill>
              </a:defRPr>
            </a:pPr>
            <a:r>
              <a:t>UniServe — Final Demo (Phase 62: READY WITH KNOWN LIMITATIONS)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Manager dashboard scoped to Faculty Cafeteria (Sana Malik)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Order queue + cafeterias view for their operation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Menu and inventory oversight for their cafeteria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Boundary enforced: managers get "Access denied" on admin-wide reports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5F"/>
                </a:solidFill>
              </a:defRPr>
            </a:pPr>
            <a:r>
              <a:t>University Admin Console — The university's control room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E86AB"/>
                </a:solidFill>
              </a:defRPr>
            </a:pPr>
            <a:r>
              <a:t>UniServe — Final Demo (Phase 62: READY WITH KNOWN LIMITATIONS)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Dashboard: 3 cafeterias · active orders · unread notifications at a glance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Users ("Members") administration — 18 users in the demo database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Cafeterias + inventory administration across campus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Refund Management console + Reports &amp; Analytics (admin-only)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Settings: Active Sessions table (383 sessions recorded)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Audit Log: append-only trail (844 audit events)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5F"/>
                </a:solidFill>
              </a:defRPr>
            </a:pPr>
            <a:r>
              <a:t>Notifications &amp; Refunds — Feedback loop and money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E86AB"/>
                </a:solidFill>
              </a:defRPr>
            </a:pPr>
            <a:r>
              <a:t>UniServe — Final Demo (Phase 62: READY WITH KNOWN LIMITATIONS)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Notifications: in-app inbox (mobile) + admin Broadcast console (university-wide messages)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E2E order #31 generated 2 notifications to the order owner as status advanced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Engineering honesty: a delivery-gap defect was found in Phase 61 verification, fixed in 61A, re-verified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Payments/refunds: verified as a workflow with test data — order #31 was a cash order (PKR 80); 4 refund records exist from test flows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Online payments are fail-closed: unconfigured/unreachable payment provider → HTTP 503, never a fake success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5F"/>
                </a:solidFill>
              </a:defRPr>
            </a:pPr>
            <a:r>
              <a:t>Reports &amp; Analytics — Right numbers, right people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E86AB"/>
                </a:solidFill>
              </a:defRPr>
            </a:pPr>
            <a:r>
              <a:t>UniServe — Final Demo (Phase 62: READY WITH KNOWN LIMITATIONS)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Admin-only Reports &amp; Analytics screen (managers: "Access denied")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Demo database: 52 orders · 39 payments · 3 cafeterias · 18 users — real chart shapes, not placeholders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Order and cafeteria activity aggregated university-wide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Scope discipline is a feature: operational views ≠ governance views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5F"/>
                </a:solidFill>
              </a:defRPr>
            </a:pPr>
            <a:r>
              <a:t>Technology Architecture — Boring technology, well-orchestrated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E86AB"/>
                </a:solidFill>
              </a:defRPr>
            </a:pPr>
            <a:r>
              <a:t>UniServe — Final Demo (Phase 62: READY WITH KNOWN LIMITATIONS)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Backend: FastAPI · SQLAlchemy async · Alembic (migration 0013) · PostgreSQL 16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AuthN/AuthZ: JWT (access + refresh) + role-based access control on every sensitive endpoint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Web: Next.js 14 (App Router) — role-scoped dashboards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Mobile: React Native 0.86.3 + Expo SDK 57 — runs on iOS/Android; demoed via Expo web on this machine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Infra: Docker Compose — API + PostgreSQL containers; health-checked before every demo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Data safety: session tracking (383 sessions), audit events (844), append-only audit model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5F"/>
                </a:solidFill>
              </a:defRPr>
            </a:pPr>
            <a:r>
              <a:t>Testing &amp; Reliability — Verified, not assumed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E86AB"/>
                </a:solidFill>
              </a:defRPr>
            </a:pPr>
            <a:r>
              <a:t>UniServe — Final Demo (Phase 62: READY WITH KNOWN LIMITATIONS)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Backend: 872 Pytest tests passed, 5 skipped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Web console: 40/40 Vitest · TypeScript 0 errors · ESLint 0 errors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Mobile: 34/34 Jest · TypeScript 0 errors · ESLint 0 errors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Shared types: 13/13 Vitest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RBAC probes: 13/13 forbidden calls → HTTP 403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Role rehearsals: admin 8/8 · manager 7/7 · staff 5/5 · student 4/4 · faculty 3/3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E2E order #31: PENDING → PREPARING → READY → COMPLETED · 7-event audit trail · 2 notifications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5F"/>
                </a:solidFill>
              </a:defRPr>
            </a:pPr>
            <a:r>
              <a:t>Final Value &amp; Honest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E86AB"/>
                </a:solidFill>
              </a:defRPr>
            </a:pPr>
            <a:r>
              <a:t>UniServe — Final Demo (Phase 62: READY WITH KNOWN LIMITATIONS)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Delivers now: mobile ordering for students &amp; faculty · real-time fulfillment for staff · cafeteria management for managers · governance, audit &amp; analytics for the university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Proven: 959+ automated tests green · RBAC enforced at API and UI · full order lifecycle E2E · audit trail on every sensitive action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Honest known limitations (15 open, documented): no live payment-merchant integration (fail-closed by design) · test-residue records visible in demo data · sparse menu dietary metadata · in-app notifications only (no mobile push yet)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Roadmap: live JazzCash merchant integration · production deployment hardening · menu metadata completion · test-data cleanup · push notifications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Every screenshot in this deck came from the running application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